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A44  |  CHIPATHON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65379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LAYOUT REVIEW  •  2026-08-21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0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SSCS CHIPATHON 2026  •  TEAM A44 JST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A44 SAR ADC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12648" y="26334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no-pad CORE and direct component layouts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" y="340156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83750"/>
          </a:solidFill>
          <a:ln w="12700">
            <a:solidFill>
              <a:srgbClr val="1837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3465576"/>
            <a:ext cx="630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D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1517904" y="340156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183750"/>
          </a:solidFill>
          <a:ln w="12700">
            <a:solidFill>
              <a:srgbClr val="1837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3465576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D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MS/s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596896" y="340156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183750"/>
          </a:solidFill>
          <a:ln w="12700">
            <a:solidFill>
              <a:srgbClr val="1837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3465576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D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V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557016" y="3401568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183750"/>
          </a:solidFill>
          <a:ln w="12700">
            <a:solidFill>
              <a:srgbClr val="1837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46557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D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GF180MCU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621792" y="4160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1AC"/>
                </a:solidFill>
              </a:rPr>
              <a:t>Review 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4480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Top-level Layout Review  •  2026-08-21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D0E3"/>
                </a:solidFill>
              </a:rPr>
              <a:t>Publication scope: GDS + integration views + full-layout images + slides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502920"/>
            <a:ext cx="6053328" cy="5806440"/>
          </a:xfrm>
          <a:prstGeom prst="roundRect">
            <a:avLst>
              <a:gd name="adj" fmla="val 1260"/>
            </a:avLst>
          </a:prstGeom>
          <a:solidFill>
            <a:srgbClr val="102C47"/>
          </a:solidFill>
          <a:ln w="10160">
            <a:solidFill>
              <a:srgbClr val="2A4D6E"/>
            </a:solidFill>
            <a:prstDash val="solid"/>
          </a:ln>
        </p:spPr>
      </p:sp>
      <p:pic>
        <p:nvPicPr>
          <p:cNvPr id="18" name="Image 0" descr="D:\PICO\A44_CHIPATHON_2026_LAYOUT_REVIEW_STAGING_20260815_R1\layout\images\A44_SAR_ADC_CORE_1000_R3_DUMMY_FILL_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822960"/>
            <a:ext cx="5157216" cy="5157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760720" y="56509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A44_SAR_ADC_CORE_1000_R3_DUMMY_FILL_REPAIR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5961888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pre-fill baseline • no I/O pads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CONTRACT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Chipathon submission binding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official checker resolves the CORE GDS from the repository main branch.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8F4"/>
                </a:solidFill>
              </a:rPr>
              <a:t>submission branch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0" y="2157984"/>
            <a:ext cx="347472" cy="292608"/>
          </a:xfrm>
          <a:prstGeom prst="chevron">
            <a:avLst/>
          </a:prstGeom>
          <a:solidFill>
            <a:srgbClr val="A9B7C7"/>
          </a:solidFill>
          <a:ln w="12700">
            <a:solidFill>
              <a:srgbClr val="A9B7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2F6FED"/>
          </a:solidFill>
          <a:ln w="1016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info.yaml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2152" y="23774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8F4"/>
                </a:solidFill>
              </a:rPr>
              <a:t>relative lvs_config path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15000" y="2157984"/>
            <a:ext cx="347472" cy="292608"/>
          </a:xfrm>
          <a:prstGeom prst="chevron">
            <a:avLst/>
          </a:prstGeom>
          <a:solidFill>
            <a:srgbClr val="A9B7C7"/>
          </a:solidFill>
          <a:ln w="12700">
            <a:solidFill>
              <a:srgbClr val="A9B7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2866A8"/>
          </a:solidFill>
          <a:ln w="10160">
            <a:solidFill>
              <a:srgbClr val="2866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lvs_config.json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1072" y="23774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8F4"/>
                </a:solidFill>
              </a:rPr>
              <a:t>TOP_LAYOUT + LAYOUT_FILE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503920" y="2157984"/>
            <a:ext cx="347472" cy="292608"/>
          </a:xfrm>
          <a:prstGeom prst="chevron">
            <a:avLst/>
          </a:prstGeom>
          <a:solidFill>
            <a:srgbClr val="A9B7C7"/>
          </a:solidFill>
          <a:ln w="12700">
            <a:solidFill>
              <a:srgbClr val="A9B7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8288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E9E70"/>
          </a:solidFill>
          <a:ln w="10160">
            <a:solidFill>
              <a:srgbClr val="1E9E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GDS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9992" y="23774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8F4"/>
                </a:solidFill>
              </a:rPr>
              <a:t>gds/$TOP_LAYOUT.gds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3182112"/>
            <a:ext cx="54498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F6FED"/>
                </a:solidFill>
              </a:rPr>
              <a:t>CURRENT BINDING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A44_SAR_ADC_CORE_1000_R3_DUMMY_FILL_REPAIR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gds/A44_SAR_ADC_CORE_1000_R3_DUMMY_FILL_REPAIR.gds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501091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DDF8F7"/>
          </a:solidFill>
          <a:ln w="12700">
            <a:solidFill>
              <a:srgbClr val="DDF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074920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37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 × 1000 µm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2487168" y="5010912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2D7"/>
          </a:solidFill>
          <a:ln w="12700">
            <a:solidFill>
              <a:srgbClr val="FFF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5074920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66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PADFRAME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3968496" y="501091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507492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PRE-FILL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263640" y="3182112"/>
            <a:ext cx="5330952" cy="2560320"/>
          </a:xfrm>
          <a:prstGeom prst="roundRect">
            <a:avLst>
              <a:gd name="adj" fmla="val 2857"/>
            </a:avLst>
          </a:prstGeom>
          <a:solidFill>
            <a:srgbClr val="FFFDFC"/>
          </a:solidFill>
          <a:ln w="10160">
            <a:solidFill>
              <a:srgbClr val="F1D7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66300"/>
                </a:solidFill>
              </a:rPr>
              <a:t>REVIEW SCOPE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92240" y="3767328"/>
            <a:ext cx="470916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0655" indent="-160655">
              <a:buSzPct val="100000"/>
              <a:buChar char="•"/>
            </a:pPr>
            <a:r>
              <a:rPr lang="en-US" sz="115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hierarchical CORE GDS</a:t>
            </a:r>
            <a:endParaRPr lang="en-US" sz="1150" dirty="0"/>
          </a:p>
          <a:p>
            <a:pPr marL="160655" indent="-160655">
              <a:buSzPct val="100000"/>
              <a:buChar char="•"/>
            </a:pPr>
            <a:r>
              <a:rPr lang="en-US" sz="115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standalone direct-component GDS files</a:t>
            </a:r>
            <a:endParaRPr lang="en-US" sz="1150" dirty="0"/>
          </a:p>
          <a:p>
            <a:pPr marL="160655" indent="-160655">
              <a:buSzPct val="100000"/>
              <a:buChar char="•"/>
            </a:pPr>
            <a:r>
              <a:rPr lang="en-US" sz="115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 abstracts; SAR logic DEF</a:t>
            </a:r>
            <a:endParaRPr lang="en-US" sz="1150" dirty="0"/>
          </a:p>
          <a:p>
            <a:pPr marL="160655" indent="-160655">
              <a:buSzPct val="100000"/>
              <a:buChar char="•"/>
            </a:pPr>
            <a:r>
              <a:rPr lang="en-US" sz="115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full-layout image per GDS</a:t>
            </a:r>
            <a:endParaRPr lang="en-US" sz="1150" dirty="0"/>
          </a:p>
          <a:p>
            <a:pPr marL="160655" indent="-160655">
              <a:buSzPct val="100000"/>
              <a:buChar char="•"/>
            </a:pPr>
            <a:r>
              <a:rPr lang="en-US" sz="115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audit, manifest, checksum, or result payload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LAYOUT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CORE hierarchy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direct blocks inside the 1000 µm × 1000 µm CORE boundary.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6537960" cy="4681728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pic>
        <p:nvPicPr>
          <p:cNvPr id="6" name="Image 0" descr="D:\PICO\A44_CHIPATHON_2026_LAYOUT_REVIEW_STAGING_20260815_R1\layout\images\A44_SAR_ADC_CORE_1000_R3_DUMMY_FILL_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810512"/>
            <a:ext cx="4197096" cy="419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96912" y="1572768"/>
            <a:ext cx="4370832" cy="4681728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Direct instances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16368" y="2359152"/>
            <a:ext cx="3822192" cy="54864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</a:rPr>
              <a:t>CDAC 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759952" y="2468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(10.00, 350.00)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10332720" y="24688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F6FED"/>
                </a:solidFill>
              </a:rPr>
              <a:t>390 × 626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7516368" y="2999232"/>
            <a:ext cx="382219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</a:rPr>
              <a:t>CDAC W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5995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(600.00, 350.00)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0332720" y="31089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F6FED"/>
                </a:solidFill>
              </a:rPr>
              <a:t>390 × 626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7516368" y="3639312"/>
            <a:ext cx="3822192" cy="54864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</a:rPr>
              <a:t>Comparator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759952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(416.00, 609.35)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10332720" y="37490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F6FED"/>
                </a:solidFill>
              </a:rPr>
              <a:t>168 × 100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516368" y="4279392"/>
            <a:ext cx="382219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</a:rPr>
              <a:t>SAR logic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759952" y="4389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(380.44, 90.00)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10332720" y="43891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F6FED"/>
                </a:solidFill>
              </a:rPr>
              <a:t>240 × 240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7516368" y="4919472"/>
            <a:ext cx="3822192" cy="54864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5029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</a:rPr>
              <a:t>Clock buffer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759952" y="5029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(20.00, 20.00)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332720" y="50292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F6FED"/>
                </a:solidFill>
              </a:rPr>
              <a:t>120 × 60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543800" y="559612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FED"/>
                </a:solidFill>
              </a:rPr>
              <a:t>CORE interface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05088" y="555955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VDD, GND, VREFP, VREFN, VINP, VINN, CLKS, DOUT[7:0]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VIEWS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Unified layout catalog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filenames share one project prefix; internal cell names are preserved.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45720" cy="20574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64592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8" name="Image 0" descr="D:\PICO\A44_CHIPATHON_2026_LAYOUT_REVIEW_STAGING_20260815_R1\layout\images\A44_SAR_ADC_CORE_1000_R3_DUMMY_FILL_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1719072"/>
            <a:ext cx="1289304" cy="1289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51176" y="31638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 × 1000 µm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416552" y="153619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1536192"/>
            <a:ext cx="45720" cy="2057400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4568" y="164592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14" name="Image 1" descr="D:\PICO\A44_CHIPATHON_2026_LAYOUT_REVIEW_STAGING_20260815_R1\layout\images\A44_SAR_ADC_CDAC_E_R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719072"/>
            <a:ext cx="1289304" cy="1289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1144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CDAC east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64808" y="31638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× 626 µm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8330184" y="153619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0184" y="1536192"/>
            <a:ext cx="45720" cy="2057400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58200" y="164592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20" name="Image 2" descr="D:\PICO\A44_CHIPATHON_2026_LAYOUT_REVIEW_STAGING_20260815_R1\layout\images\A44_SAR_ADC_CDAC_W_R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332" y="1719072"/>
            <a:ext cx="1289304" cy="12893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94776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CDAC west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0378440" y="31638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× 626 µm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502920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867912"/>
            <a:ext cx="4572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0936" y="397764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26" name="Image 3" descr="D:\PICO\A44_CHIPATHON_2026_LAYOUT_REVIEW_STAGING_20260815_R1\layout\images\A44_SAR_ADC_COMPARATOR_R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" y="4050792"/>
            <a:ext cx="1289304" cy="12893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12" y="5486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Comparator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551176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 × 100 µm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4416552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416552" y="3867912"/>
            <a:ext cx="45720" cy="2057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44568" y="397764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32" name="Image 4" descr="D:\PICO\A44_CHIPATHON_2026_LAYOUT_REVIEW_STAGING_20260815_R1\layout\images\A44_SAR_ADC_SAR_LOGIC_R1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4050792"/>
            <a:ext cx="1289304" cy="1289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81144" y="5486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logic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64808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240 × 240 µm</a:t>
            </a:r>
            <a:endParaRPr lang="en-US" sz="780" dirty="0"/>
          </a:p>
        </p:txBody>
      </p:sp>
      <p:sp>
        <p:nvSpPr>
          <p:cNvPr id="35" name="Shape 28"/>
          <p:cNvSpPr/>
          <p:nvPr/>
        </p:nvSpPr>
        <p:spPr>
          <a:xfrm>
            <a:off x="8330184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30184" y="3867912"/>
            <a:ext cx="45720" cy="2057400"/>
          </a:xfrm>
          <a:prstGeom prst="rect">
            <a:avLst/>
          </a:prstGeom>
          <a:solidFill>
            <a:srgbClr val="1E9E70"/>
          </a:solidFill>
          <a:ln w="12700">
            <a:solidFill>
              <a:srgbClr val="1E9E7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58200" y="3977640"/>
            <a:ext cx="3401568" cy="1435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38" name="Image 5" descr="D:\PICO\A44_CHIPATHON_2026_LAYOUT_REVIEW_STAGING_20260815_R1\layout\images\A44_SAR_ADC_CLKS_BUFFER_R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4332" y="4050792"/>
            <a:ext cx="1289304" cy="12893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94776" y="5486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Clock buffer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0378440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 × 60 µm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 ARRAY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CDAC pair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 and west arrays are published as independent GDS trees extracted from the current CORE hierarchy.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45720" cy="4343400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664208"/>
            <a:ext cx="5321808" cy="3721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8" name="Image 0" descr="D:\PICO\A44_CHIPATHON_2026_LAYOUT_REVIEW_STAGING_20260815_R1\layout\images\A44_SAR_ADC_CDAC_E_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1737360"/>
            <a:ext cx="3575304" cy="3575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5458968"/>
            <a:ext cx="30678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A44_SAR_ADC_CDAC_E_R7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26510" y="5468112"/>
            <a:ext cx="20656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A44_CDAC_UNIT_E_R7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42239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554480"/>
            <a:ext cx="45720" cy="4343400"/>
          </a:xfrm>
          <a:prstGeom prst="rect">
            <a:avLst/>
          </a:prstGeom>
          <a:solidFill>
            <a:srgbClr val="20C7C9"/>
          </a:solidFill>
          <a:ln w="12700">
            <a:solidFill>
              <a:srgbClr val="20C7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64208"/>
            <a:ext cx="5166360" cy="3721608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14" name="Image 1" descr="D:\PICO\A44_CHIPATHON_2026_LAYOUT_REVIEW_STAGING_20260815_R1\layout\images\A44_SAR_ADC_CDAC_W_R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1737360"/>
            <a:ext cx="3575304" cy="3575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28232" y="5458968"/>
            <a:ext cx="2982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A44_SAR_ADC_CDAC_W_R7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300180" y="5468112"/>
            <a:ext cx="20050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A44_CDAC_UNIT_W_R7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640080" y="59893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FED"/>
                </a:solidFill>
              </a:rPr>
              <a:t>Shared integration interface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14600" y="5961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VIN • CLKS • VTOP • DCTRL[7:1] • VREFP • VREFN • VDD • GND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+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Comparator, SAR logic, and clock buffer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GDS views retain the cell names used by the CORE hierarchy.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6576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45720" cy="21762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645920"/>
            <a:ext cx="3401568" cy="1554480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8" name="Image 0" descr="D:\PICO\A44_CHIPATHON_2026_LAYOUT_REVIEW_STAGING_20260815_R1\layout\images\A44_SAR_ADC_COMPARATOR_R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719072"/>
            <a:ext cx="1408176" cy="1408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Comparator R9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51176" y="32826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 × 100 µm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270248" y="1536192"/>
            <a:ext cx="36576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70248" y="1536192"/>
            <a:ext cx="45720" cy="21762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8264" y="1645920"/>
            <a:ext cx="3401568" cy="1554480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14" name="Image 1" descr="D:\PICO\A44_CHIPATHON_2026_LAYOUT_REVIEW_STAGING_20260815_R1\layout\images\A44_SAR_ADC_SAR_LOGIC_R1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19072"/>
            <a:ext cx="1408176" cy="1408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logic R1L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18504" y="32826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240 × 240 µm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8037576" y="1536192"/>
            <a:ext cx="36576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37576" y="1536192"/>
            <a:ext cx="45720" cy="2176272"/>
          </a:xfrm>
          <a:prstGeom prst="rect">
            <a:avLst/>
          </a:prstGeom>
          <a:solidFill>
            <a:srgbClr val="1E9E70"/>
          </a:solidFill>
          <a:ln w="12700">
            <a:solidFill>
              <a:srgbClr val="1E9E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65592" y="1645920"/>
            <a:ext cx="3401568" cy="1554480"/>
          </a:xfrm>
          <a:prstGeom prst="rect">
            <a:avLst/>
          </a:prstGeom>
          <a:solidFill>
            <a:srgbClr val="FCFDFE"/>
          </a:solidFill>
          <a:ln w="6350">
            <a:solidFill>
              <a:srgbClr val="E6ECF2"/>
            </a:solidFill>
            <a:prstDash val="solid"/>
          </a:ln>
        </p:spPr>
      </p:sp>
      <p:pic>
        <p:nvPicPr>
          <p:cNvPr id="20" name="Image 2" descr="D:\PICO\A44_CHIPATHON_2026_LAYOUT_REVIEW_STAGING_20260815_R1\layout\images\A44_SAR_ADC_CLKS_BUFFER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1719072"/>
            <a:ext cx="1408176" cy="1408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02168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28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Clock buffer R1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0085832" y="32826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 × 60 µm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502920" y="3986784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2D7"/>
          </a:solidFill>
          <a:ln w="10160">
            <a:solidFill>
              <a:srgbClr val="FFF2D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4088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A66300"/>
                </a:solidFill>
              </a:rPr>
              <a:t>COMPARATOR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04088" y="4645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83D"/>
                </a:solidFill>
              </a:rPr>
              <a:t>CLK, DCMPP, VINP, DCMPN, VINN, VDD, GND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270248" y="3986784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EEE8FF"/>
          </a:solidFill>
          <a:ln w="10160">
            <a:solidFill>
              <a:srgbClr val="EEE8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71416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842C2"/>
                </a:solidFill>
              </a:rPr>
              <a:t>SAR LOGIC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471416" y="4645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83D"/>
                </a:solidFill>
              </a:rPr>
              <a:t>CLKS, CMPCK, DCMP[N/P], DCTRL[N/P][7:1], DOUT[7:0], VDD, VSS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037576" y="3986784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DDF6EB"/>
          </a:solidFill>
          <a:ln w="10160">
            <a:solidFill>
              <a:srgbClr val="DDF6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38744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7354"/>
                </a:solidFill>
              </a:rPr>
              <a:t>CLOCK BUFFER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238744" y="46451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83D"/>
                </a:solidFill>
              </a:rPr>
              <a:t>PAD_CLK, CLKS_CORE, VDD, GND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HANDOFF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publication establishes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109728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CORE-layout submission, with explicit separation from full-die signoff.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CFEFD"/>
          </a:solidFill>
          <a:ln w="10160">
            <a:solidFill>
              <a:srgbClr val="B9E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470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E9E70"/>
                </a:solidFill>
              </a:rPr>
              <a:t>PUBLISHED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4773168" cy="3063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pre-fill CORE GDS at the configured repository path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direct component GDS files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and component LEF integration views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 logic DEF physical view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one full-layout image per GDS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Layout-review presentation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199632" y="1536192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FFFCF7"/>
          </a:solidFill>
          <a:ln w="10160">
            <a:solidFill>
              <a:srgbClr val="F2D5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4708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66300"/>
                </a:solidFill>
              </a:rPr>
              <a:t>OPEN / OUT OF SCOPE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2267712"/>
            <a:ext cx="4773168" cy="3063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Padframe, I/O pads, and primary/secondary ESD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full-die wrapper and Channel Partner package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Density/fill and antenna closure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Full-chip PDN, EM, and latch-up closure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full-chip DRC/LVS/PEX signoff</a:t>
            </a:r>
            <a:endParaRPr lang="en-US" sz="1220" dirty="0"/>
          </a:p>
          <a:p>
            <a:pPr marL="170434" indent="-170434">
              <a:buSzPct val="100000"/>
              <a:buChar char="•"/>
            </a:pPr>
            <a:r>
              <a:rPr lang="en-US" sz="1220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Tapeout readiness or foundry acceptance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64992" y="61264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6208776"/>
            <a:ext cx="5074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</a:rPr>
              <a:t>NEXT PUBLIC MILESTONE  •  TOP-LEVEL LAYOUT REVIEW  •  2026-08-21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SSCS Chipathon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A44 SAR ADC Layout Review</dc:title>
  <dc:subject>A44 SAR ADC current CORE and component layout review</dc:subject>
  <dc:creator>Team A44 JST</dc:creator>
  <cp:lastModifiedBy>Team A44 JST</cp:lastModifiedBy>
  <cp:revision>1</cp:revision>
  <dcterms:created xsi:type="dcterms:W3CDTF">2026-08-15T05:24:09Z</dcterms:created>
  <dcterms:modified xsi:type="dcterms:W3CDTF">2026-08-15T05:24:09Z</dcterms:modified>
</cp:coreProperties>
</file>