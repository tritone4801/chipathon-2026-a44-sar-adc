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0C7C9"/>
          </a:solidFill>
          <a:ln w="12700">
            <a:solidFill>
              <a:srgbClr val="20C7C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653796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A44  |  CHIPATHON 2026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8001000" y="6537960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LAYOUT REVIEW  •  2026-08-21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0C7C9"/>
          </a:solidFill>
          <a:ln w="12700">
            <a:solidFill>
              <a:srgbClr val="20C7C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5486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20C7C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SSCS CHIPATHON 2026  •  TEAM A44 JST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4360" y="105156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A44 SAR ADC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Layout Review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12648" y="2633472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BFD0E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no-pad CORE and direct component layouts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21792" y="3401568"/>
            <a:ext cx="777240" cy="292608"/>
          </a:xfrm>
          <a:prstGeom prst="roundRect">
            <a:avLst>
              <a:gd name="adj" fmla="val 25000"/>
            </a:avLst>
          </a:prstGeom>
          <a:solidFill>
            <a:srgbClr val="183750"/>
          </a:solidFill>
          <a:ln w="12700">
            <a:solidFill>
              <a:srgbClr val="1837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4944" y="3465576"/>
            <a:ext cx="63093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7DE4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8-bit</a:t>
            </a:r>
            <a:endParaRPr lang="en-US" sz="770" dirty="0"/>
          </a:p>
        </p:txBody>
      </p:sp>
      <p:sp>
        <p:nvSpPr>
          <p:cNvPr id="8" name="Shape 6"/>
          <p:cNvSpPr/>
          <p:nvPr/>
        </p:nvSpPr>
        <p:spPr>
          <a:xfrm>
            <a:off x="1517904" y="3401568"/>
            <a:ext cx="960120" cy="292608"/>
          </a:xfrm>
          <a:prstGeom prst="roundRect">
            <a:avLst>
              <a:gd name="adj" fmla="val 25000"/>
            </a:avLst>
          </a:prstGeom>
          <a:solidFill>
            <a:srgbClr val="183750"/>
          </a:solidFill>
          <a:ln w="12700">
            <a:solidFill>
              <a:srgbClr val="1837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91056" y="3465576"/>
            <a:ext cx="8138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7DE4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MS/s</a:t>
            </a:r>
            <a:endParaRPr lang="en-US" sz="770" dirty="0"/>
          </a:p>
        </p:txBody>
      </p:sp>
      <p:sp>
        <p:nvSpPr>
          <p:cNvPr id="10" name="Shape 8"/>
          <p:cNvSpPr/>
          <p:nvPr/>
        </p:nvSpPr>
        <p:spPr>
          <a:xfrm>
            <a:off x="2596896" y="3401568"/>
            <a:ext cx="841248" cy="292608"/>
          </a:xfrm>
          <a:prstGeom prst="roundRect">
            <a:avLst>
              <a:gd name="adj" fmla="val 25000"/>
            </a:avLst>
          </a:prstGeom>
          <a:solidFill>
            <a:srgbClr val="183750"/>
          </a:solidFill>
          <a:ln w="12700">
            <a:solidFill>
              <a:srgbClr val="1837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70048" y="3465576"/>
            <a:ext cx="6949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7DE4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3.3 V</a:t>
            </a:r>
            <a:endParaRPr lang="en-US" sz="770" dirty="0"/>
          </a:p>
        </p:txBody>
      </p:sp>
      <p:sp>
        <p:nvSpPr>
          <p:cNvPr id="12" name="Shape 10"/>
          <p:cNvSpPr/>
          <p:nvPr/>
        </p:nvSpPr>
        <p:spPr>
          <a:xfrm>
            <a:off x="3557016" y="3401568"/>
            <a:ext cx="1243584" cy="292608"/>
          </a:xfrm>
          <a:prstGeom prst="roundRect">
            <a:avLst>
              <a:gd name="adj" fmla="val 25000"/>
            </a:avLst>
          </a:prstGeom>
          <a:solidFill>
            <a:srgbClr val="183750"/>
          </a:solidFill>
          <a:ln w="12700">
            <a:solidFill>
              <a:srgbClr val="1837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30168" y="3465576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7DE4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GF180MCU</a:t>
            </a:r>
            <a:endParaRPr lang="en-US" sz="770" dirty="0"/>
          </a:p>
        </p:txBody>
      </p:sp>
      <p:sp>
        <p:nvSpPr>
          <p:cNvPr id="14" name="Text 12"/>
          <p:cNvSpPr/>
          <p:nvPr/>
        </p:nvSpPr>
        <p:spPr>
          <a:xfrm>
            <a:off x="621792" y="41605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891AC"/>
                </a:solidFill>
              </a:rPr>
              <a:t>Review target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21792" y="44805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Top-level Layout Review  •  2026-08-21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1792" y="498348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BFD0E3"/>
                </a:solidFill>
              </a:rPr>
              <a:t>Publication scope: GDS + integration views + full-layout images + slides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532120" y="502920"/>
            <a:ext cx="6053328" cy="5806440"/>
          </a:xfrm>
          <a:prstGeom prst="roundRect">
            <a:avLst>
              <a:gd name="adj" fmla="val 1260"/>
            </a:avLst>
          </a:prstGeom>
          <a:solidFill>
            <a:srgbClr val="102C47"/>
          </a:solidFill>
          <a:ln w="10160">
            <a:solidFill>
              <a:srgbClr val="2A4D6E"/>
            </a:solidFill>
            <a:prstDash val="solid"/>
          </a:ln>
        </p:spPr>
      </p:sp>
      <p:pic>
        <p:nvPicPr>
          <p:cNvPr id="18" name="Image 0" descr="D:\PICO\A44_CHIPATHON_2026_LAYOUT_REVIEW_STAGING_20260815_R1\layout\images\A44_SAR_ADC_CORE_100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0176" y="822960"/>
            <a:ext cx="5157216" cy="5157216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5760720" y="5650992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DDE8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A44_SAR_ADC_CORE_1000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760720" y="5961888"/>
            <a:ext cx="5532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DE4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pre-fill baseline • no I/O pads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80" kern="0" dirty="0">
                <a:solidFill>
                  <a:srgbClr val="2F6F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REPOSITORY CONTRACT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630936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Chipathon submission binding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12064" y="1097280"/>
            <a:ext cx="10881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official checker resolves the CORE GDS from the repository main branch.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94360" y="1828800"/>
            <a:ext cx="2240280" cy="960120"/>
          </a:xfrm>
          <a:prstGeom prst="roundRect">
            <a:avLst>
              <a:gd name="adj" fmla="val 7619"/>
            </a:avLst>
          </a:prstGeom>
          <a:solidFill>
            <a:srgbClr val="0B1F33"/>
          </a:solidFill>
          <a:ln w="10160">
            <a:solidFill>
              <a:srgbClr val="0B1F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993392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main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13232" y="2377440"/>
            <a:ext cx="20025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DCE8F4"/>
                </a:solidFill>
              </a:rPr>
              <a:t>submission branch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926080" y="2157984"/>
            <a:ext cx="347472" cy="292608"/>
          </a:xfrm>
          <a:prstGeom prst="chevron">
            <a:avLst/>
          </a:prstGeom>
          <a:solidFill>
            <a:srgbClr val="A9B7C7"/>
          </a:solidFill>
          <a:ln w="12700">
            <a:solidFill>
              <a:srgbClr val="A9B7C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828800"/>
            <a:ext cx="2240280" cy="960120"/>
          </a:xfrm>
          <a:prstGeom prst="roundRect">
            <a:avLst>
              <a:gd name="adj" fmla="val 7619"/>
            </a:avLst>
          </a:prstGeom>
          <a:solidFill>
            <a:srgbClr val="2F6FED"/>
          </a:solidFill>
          <a:ln w="10160">
            <a:solidFill>
              <a:srgbClr val="2F6F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20440" y="1993392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info.yaml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502152" y="2377440"/>
            <a:ext cx="20025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DCE8F4"/>
                </a:solidFill>
              </a:rPr>
              <a:t>relative lvs_config path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715000" y="2157984"/>
            <a:ext cx="347472" cy="292608"/>
          </a:xfrm>
          <a:prstGeom prst="chevron">
            <a:avLst/>
          </a:prstGeom>
          <a:solidFill>
            <a:srgbClr val="A9B7C7"/>
          </a:solidFill>
          <a:ln w="12700">
            <a:solidFill>
              <a:srgbClr val="A9B7C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72200" y="1828800"/>
            <a:ext cx="2240280" cy="960120"/>
          </a:xfrm>
          <a:prstGeom prst="roundRect">
            <a:avLst>
              <a:gd name="adj" fmla="val 7619"/>
            </a:avLst>
          </a:prstGeom>
          <a:solidFill>
            <a:srgbClr val="2866A8"/>
          </a:solidFill>
          <a:ln w="10160">
            <a:solidFill>
              <a:srgbClr val="2866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9360" y="1993392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lvs_config.json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291072" y="2377440"/>
            <a:ext cx="20025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DCE8F4"/>
                </a:solidFill>
              </a:rPr>
              <a:t>TOP_LAYOUT + LAYOUT_FILE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8503920" y="2157984"/>
            <a:ext cx="347472" cy="292608"/>
          </a:xfrm>
          <a:prstGeom prst="chevron">
            <a:avLst/>
          </a:prstGeom>
          <a:solidFill>
            <a:srgbClr val="A9B7C7"/>
          </a:solidFill>
          <a:ln w="12700">
            <a:solidFill>
              <a:srgbClr val="A9B7C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61120" y="1828800"/>
            <a:ext cx="2240280" cy="960120"/>
          </a:xfrm>
          <a:prstGeom prst="roundRect">
            <a:avLst>
              <a:gd name="adj" fmla="val 7619"/>
            </a:avLst>
          </a:prstGeom>
          <a:solidFill>
            <a:srgbClr val="1E9E70"/>
          </a:solidFill>
          <a:ln w="10160">
            <a:solidFill>
              <a:srgbClr val="1E9E7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1993392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CORE GDS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079992" y="2377440"/>
            <a:ext cx="20025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DCE8F4"/>
                </a:solidFill>
              </a:rPr>
              <a:t>configured LAYOUT_FILE path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3182112"/>
            <a:ext cx="5449824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0160">
            <a:solidFill>
              <a:srgbClr val="D7E0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34564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2F6FED"/>
                </a:solidFill>
              </a:rPr>
              <a:t>CURRENT BINDING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822960" y="384048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B1F33"/>
                </a:solidFill>
              </a:rPr>
              <a:t>A44_SAR_ADC_CORE_1000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22960" y="438912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gds/A44_SAR_ADC_CORE_1000.gds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22960" y="5010912"/>
            <a:ext cx="1508760" cy="292608"/>
          </a:xfrm>
          <a:prstGeom prst="roundRect">
            <a:avLst>
              <a:gd name="adj" fmla="val 25000"/>
            </a:avLst>
          </a:prstGeom>
          <a:solidFill>
            <a:srgbClr val="DDF8F7"/>
          </a:solidFill>
          <a:ln w="12700">
            <a:solidFill>
              <a:srgbClr val="DDF8F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96112" y="5074920"/>
            <a:ext cx="13624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137D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1000 × 1000 µm</a:t>
            </a:r>
            <a:endParaRPr lang="en-US" sz="770" dirty="0"/>
          </a:p>
        </p:txBody>
      </p:sp>
      <p:sp>
        <p:nvSpPr>
          <p:cNvPr id="26" name="Shape 24"/>
          <p:cNvSpPr/>
          <p:nvPr/>
        </p:nvSpPr>
        <p:spPr>
          <a:xfrm>
            <a:off x="2487168" y="5010912"/>
            <a:ext cx="1325880" cy="292608"/>
          </a:xfrm>
          <a:prstGeom prst="roundRect">
            <a:avLst>
              <a:gd name="adj" fmla="val 25000"/>
            </a:avLst>
          </a:prstGeom>
          <a:solidFill>
            <a:srgbClr val="FFF2D7"/>
          </a:solidFill>
          <a:ln w="12700">
            <a:solidFill>
              <a:srgbClr val="FFF2D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60320" y="5074920"/>
            <a:ext cx="11795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A663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PADFRAME</a:t>
            </a:r>
            <a:endParaRPr lang="en-US" sz="770" dirty="0"/>
          </a:p>
        </p:txBody>
      </p:sp>
      <p:sp>
        <p:nvSpPr>
          <p:cNvPr id="28" name="Shape 26"/>
          <p:cNvSpPr/>
          <p:nvPr/>
        </p:nvSpPr>
        <p:spPr>
          <a:xfrm>
            <a:off x="3968496" y="5010912"/>
            <a:ext cx="1024128" cy="292608"/>
          </a:xfrm>
          <a:prstGeom prst="roundRect">
            <a:avLst>
              <a:gd name="adj" fmla="val 25000"/>
            </a:avLst>
          </a:prstGeom>
          <a:solidFill>
            <a:srgbClr val="E8F0FF"/>
          </a:solidFill>
          <a:ln w="12700">
            <a:solidFill>
              <a:srgbClr val="E8F0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041648" y="5074920"/>
            <a:ext cx="8778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2F6F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PRE-FILL</a:t>
            </a:r>
            <a:endParaRPr lang="en-US" sz="770" dirty="0"/>
          </a:p>
        </p:txBody>
      </p:sp>
      <p:sp>
        <p:nvSpPr>
          <p:cNvPr id="30" name="Shape 28"/>
          <p:cNvSpPr/>
          <p:nvPr/>
        </p:nvSpPr>
        <p:spPr>
          <a:xfrm>
            <a:off x="6263640" y="3182112"/>
            <a:ext cx="5330952" cy="2560320"/>
          </a:xfrm>
          <a:prstGeom prst="roundRect">
            <a:avLst>
              <a:gd name="adj" fmla="val 2857"/>
            </a:avLst>
          </a:prstGeom>
          <a:solidFill>
            <a:srgbClr val="FFFDFC"/>
          </a:solidFill>
          <a:ln w="10160">
            <a:solidFill>
              <a:srgbClr val="F1D79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92240" y="34564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A66300"/>
                </a:solidFill>
              </a:rPr>
              <a:t>REVIEW SCOPE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492240" y="3767328"/>
            <a:ext cx="4709160" cy="1691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160655" indent="-160655">
              <a:buSzPct val="100000"/>
              <a:buChar char="•"/>
            </a:pPr>
            <a:r>
              <a:rPr lang="en-US" sz="1150" dirty="0">
                <a:solidFill>
                  <a:srgbClr val="1528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hierarchical CORE GDS</a:t>
            </a:r>
            <a:endParaRPr lang="en-US" sz="1150" dirty="0"/>
          </a:p>
          <a:p>
            <a:pPr marL="160655" indent="-160655">
              <a:buSzPct val="100000"/>
              <a:buChar char="•"/>
            </a:pPr>
            <a:r>
              <a:rPr lang="en-US" sz="1150" dirty="0">
                <a:solidFill>
                  <a:srgbClr val="1528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Five standalone direct-component GDS files</a:t>
            </a:r>
            <a:endParaRPr lang="en-US" sz="1150" dirty="0"/>
          </a:p>
          <a:p>
            <a:pPr marL="160655" indent="-160655">
              <a:buSzPct val="100000"/>
              <a:buChar char="•"/>
            </a:pPr>
            <a:r>
              <a:rPr lang="en-US" sz="1150" dirty="0">
                <a:solidFill>
                  <a:srgbClr val="1528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LEF abstracts; SAR logic DEF</a:t>
            </a:r>
            <a:endParaRPr lang="en-US" sz="1150" dirty="0"/>
          </a:p>
          <a:p>
            <a:pPr marL="160655" indent="-160655">
              <a:buSzPct val="100000"/>
              <a:buChar char="•"/>
            </a:pPr>
            <a:r>
              <a:rPr lang="en-US" sz="1150" dirty="0">
                <a:solidFill>
                  <a:srgbClr val="1528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full-layout image per GDS</a:t>
            </a:r>
            <a:endParaRPr lang="en-US" sz="1150" dirty="0"/>
          </a:p>
          <a:p>
            <a:pPr marL="160655" indent="-160655">
              <a:buSzPct val="100000"/>
              <a:buChar char="•"/>
            </a:pPr>
            <a:r>
              <a:rPr lang="en-US" sz="1150" dirty="0">
                <a:solidFill>
                  <a:srgbClr val="1528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audit, manifest, checksum, or result payload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80" kern="0" dirty="0">
                <a:solidFill>
                  <a:srgbClr val="2F6F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 LAYOUT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630936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CORE hierarchy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12064" y="1097280"/>
            <a:ext cx="10881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Five direct blocks inside the 1000 µm × 1000 µm CORE boundary.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6537960" cy="4681728"/>
          </a:xfrm>
          <a:prstGeom prst="roundRect">
            <a:avLst>
              <a:gd name="adj" fmla="val 1563"/>
            </a:avLst>
          </a:prstGeom>
          <a:solidFill>
            <a:srgbClr val="FFFFFF"/>
          </a:solidFill>
          <a:ln w="10160">
            <a:solidFill>
              <a:srgbClr val="D7E0EA"/>
            </a:solidFill>
            <a:prstDash val="solid"/>
          </a:ln>
        </p:spPr>
      </p:sp>
      <p:pic>
        <p:nvPicPr>
          <p:cNvPr id="6" name="Image 0" descr="D:\PICO\A44_CHIPATHON_2026_LAYOUT_REVIEW_STAGING_20260815_R1\layout\images\A44_SAR_ADC_CORE_100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73352" y="1810512"/>
            <a:ext cx="4197096" cy="419709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296912" y="1572768"/>
            <a:ext cx="4370832" cy="4681728"/>
          </a:xfrm>
          <a:prstGeom prst="roundRect">
            <a:avLst>
              <a:gd name="adj" fmla="val 1674"/>
            </a:avLst>
          </a:prstGeom>
          <a:solidFill>
            <a:srgbClr val="FFFFFF"/>
          </a:solidFill>
          <a:ln w="10160">
            <a:solidFill>
              <a:srgbClr val="D7E0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543800" y="18470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</a:rPr>
              <a:t>Direct instances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516368" y="2359152"/>
            <a:ext cx="3822192" cy="548640"/>
          </a:xfrm>
          <a:prstGeom prst="roundRect">
            <a:avLst>
              <a:gd name="adj" fmla="val 6667"/>
            </a:avLst>
          </a:prstGeom>
          <a:solidFill>
            <a:srgbClr val="F3F7FB"/>
          </a:solidFill>
          <a:ln w="12700">
            <a:solidFill>
              <a:srgbClr val="F3F7F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680960" y="246888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5283D"/>
                </a:solidFill>
              </a:rPr>
              <a:t>CDAC E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759952" y="246888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(10.00, 350.00)</a:t>
            </a:r>
            <a:endParaRPr lang="en-US" sz="840" dirty="0"/>
          </a:p>
        </p:txBody>
      </p:sp>
      <p:sp>
        <p:nvSpPr>
          <p:cNvPr id="12" name="Text 9"/>
          <p:cNvSpPr/>
          <p:nvPr/>
        </p:nvSpPr>
        <p:spPr>
          <a:xfrm>
            <a:off x="10332720" y="2468880"/>
            <a:ext cx="804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2F6FED"/>
                </a:solidFill>
              </a:rPr>
              <a:t>390 × 626</a:t>
            </a:r>
            <a:endParaRPr lang="en-US" sz="840" dirty="0"/>
          </a:p>
        </p:txBody>
      </p:sp>
      <p:sp>
        <p:nvSpPr>
          <p:cNvPr id="13" name="Shape 10"/>
          <p:cNvSpPr/>
          <p:nvPr/>
        </p:nvSpPr>
        <p:spPr>
          <a:xfrm>
            <a:off x="7516368" y="2999232"/>
            <a:ext cx="3822192" cy="5486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80960" y="31089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5283D"/>
                </a:solidFill>
              </a:rPr>
              <a:t>CDAC W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759952" y="310896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(600.00, 350.00)</a:t>
            </a:r>
            <a:endParaRPr lang="en-US" sz="840" dirty="0"/>
          </a:p>
        </p:txBody>
      </p:sp>
      <p:sp>
        <p:nvSpPr>
          <p:cNvPr id="16" name="Text 13"/>
          <p:cNvSpPr/>
          <p:nvPr/>
        </p:nvSpPr>
        <p:spPr>
          <a:xfrm>
            <a:off x="10332720" y="3108960"/>
            <a:ext cx="804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2F6FED"/>
                </a:solidFill>
              </a:rPr>
              <a:t>390 × 626</a:t>
            </a:r>
            <a:endParaRPr lang="en-US" sz="840" dirty="0"/>
          </a:p>
        </p:txBody>
      </p:sp>
      <p:sp>
        <p:nvSpPr>
          <p:cNvPr id="17" name="Shape 14"/>
          <p:cNvSpPr/>
          <p:nvPr/>
        </p:nvSpPr>
        <p:spPr>
          <a:xfrm>
            <a:off x="7516368" y="3639312"/>
            <a:ext cx="3822192" cy="548640"/>
          </a:xfrm>
          <a:prstGeom prst="roundRect">
            <a:avLst>
              <a:gd name="adj" fmla="val 6667"/>
            </a:avLst>
          </a:prstGeom>
          <a:solidFill>
            <a:srgbClr val="F3F7FB"/>
          </a:solidFill>
          <a:ln w="12700">
            <a:solidFill>
              <a:srgbClr val="F3F7F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680960" y="374904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5283D"/>
                </a:solidFill>
              </a:rPr>
              <a:t>Comparator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8759952" y="37490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(416.00, 609.35)</a:t>
            </a:r>
            <a:endParaRPr lang="en-US" sz="840" dirty="0"/>
          </a:p>
        </p:txBody>
      </p:sp>
      <p:sp>
        <p:nvSpPr>
          <p:cNvPr id="20" name="Text 17"/>
          <p:cNvSpPr/>
          <p:nvPr/>
        </p:nvSpPr>
        <p:spPr>
          <a:xfrm>
            <a:off x="10332720" y="3749040"/>
            <a:ext cx="804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2F6FED"/>
                </a:solidFill>
              </a:rPr>
              <a:t>168 × 100</a:t>
            </a:r>
            <a:endParaRPr lang="en-US" sz="840" dirty="0"/>
          </a:p>
        </p:txBody>
      </p:sp>
      <p:sp>
        <p:nvSpPr>
          <p:cNvPr id="21" name="Shape 18"/>
          <p:cNvSpPr/>
          <p:nvPr/>
        </p:nvSpPr>
        <p:spPr>
          <a:xfrm>
            <a:off x="7516368" y="4279392"/>
            <a:ext cx="3822192" cy="5486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680960" y="438912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5283D"/>
                </a:solidFill>
              </a:rPr>
              <a:t>SAR logic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8759952" y="438912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(380.44, 90.00)</a:t>
            </a:r>
            <a:endParaRPr lang="en-US" sz="840" dirty="0"/>
          </a:p>
        </p:txBody>
      </p:sp>
      <p:sp>
        <p:nvSpPr>
          <p:cNvPr id="24" name="Text 21"/>
          <p:cNvSpPr/>
          <p:nvPr/>
        </p:nvSpPr>
        <p:spPr>
          <a:xfrm>
            <a:off x="10332720" y="4389120"/>
            <a:ext cx="804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2F6FED"/>
                </a:solidFill>
              </a:rPr>
              <a:t>240 × 240</a:t>
            </a:r>
            <a:endParaRPr lang="en-US" sz="840" dirty="0"/>
          </a:p>
        </p:txBody>
      </p:sp>
      <p:sp>
        <p:nvSpPr>
          <p:cNvPr id="25" name="Shape 22"/>
          <p:cNvSpPr/>
          <p:nvPr/>
        </p:nvSpPr>
        <p:spPr>
          <a:xfrm>
            <a:off x="7516368" y="4919472"/>
            <a:ext cx="3822192" cy="548640"/>
          </a:xfrm>
          <a:prstGeom prst="roundRect">
            <a:avLst>
              <a:gd name="adj" fmla="val 6667"/>
            </a:avLst>
          </a:prstGeom>
          <a:solidFill>
            <a:srgbClr val="F3F7FB"/>
          </a:solidFill>
          <a:ln w="12700">
            <a:solidFill>
              <a:srgbClr val="F3F7F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680960" y="50292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5283D"/>
                </a:solidFill>
              </a:rPr>
              <a:t>Clock buffer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8759952" y="50292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(20.00, 20.00)</a:t>
            </a:r>
            <a:endParaRPr lang="en-US" sz="840" dirty="0"/>
          </a:p>
        </p:txBody>
      </p:sp>
      <p:sp>
        <p:nvSpPr>
          <p:cNvPr id="28" name="Text 25"/>
          <p:cNvSpPr/>
          <p:nvPr/>
        </p:nvSpPr>
        <p:spPr>
          <a:xfrm>
            <a:off x="10332720" y="5029200"/>
            <a:ext cx="804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2F6FED"/>
                </a:solidFill>
              </a:rPr>
              <a:t>120 × 60</a:t>
            </a:r>
            <a:endParaRPr lang="en-US" sz="840" dirty="0"/>
          </a:p>
        </p:txBody>
      </p:sp>
      <p:sp>
        <p:nvSpPr>
          <p:cNvPr id="29" name="Text 26"/>
          <p:cNvSpPr/>
          <p:nvPr/>
        </p:nvSpPr>
        <p:spPr>
          <a:xfrm>
            <a:off x="7543800" y="5596128"/>
            <a:ext cx="1280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F6FED"/>
                </a:solidFill>
              </a:rPr>
              <a:t>CORE interface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8705088" y="5559552"/>
            <a:ext cx="2450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4748B"/>
                </a:solidFill>
              </a:rPr>
              <a:t>VDD, GND, VREFP, VREFN, VINP, VINN, CLKS, DOUT[7:0]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80" kern="0" dirty="0">
                <a:solidFill>
                  <a:srgbClr val="2F6F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PUBLISHED VIEWS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630936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Unified layout catalog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12064" y="1097280"/>
            <a:ext cx="10881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filenames share one project prefix; internal cell names are preserved.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02920" y="1536192"/>
            <a:ext cx="365760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0160">
            <a:solidFill>
              <a:srgbClr val="D7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536192"/>
            <a:ext cx="45720" cy="2057400"/>
          </a:xfrm>
          <a:prstGeom prst="rect">
            <a:avLst/>
          </a:prstGeom>
          <a:solidFill>
            <a:srgbClr val="2F6FED"/>
          </a:solidFill>
          <a:ln w="12700">
            <a:solidFill>
              <a:srgbClr val="2F6FE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0936" y="1645920"/>
            <a:ext cx="3401568" cy="1435608"/>
          </a:xfrm>
          <a:prstGeom prst="rect">
            <a:avLst/>
          </a:prstGeom>
          <a:solidFill>
            <a:srgbClr val="FCFDFE"/>
          </a:solidFill>
          <a:ln w="6350">
            <a:solidFill>
              <a:srgbClr val="E6ECF2"/>
            </a:solidFill>
            <a:prstDash val="solid"/>
          </a:ln>
        </p:spPr>
      </p:sp>
      <p:pic>
        <p:nvPicPr>
          <p:cNvPr id="8" name="Image 0" descr="D:\PICO\A44_CHIPATHON_2026_LAYOUT_REVIEW_STAGING_20260815_R1\layout\images\A44_SAR_ADC_CORE_100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87068" y="1719072"/>
            <a:ext cx="1289304" cy="128930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67512" y="315468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528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551176" y="3163824"/>
            <a:ext cx="1316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1000 × 1000 µm</a:t>
            </a:r>
            <a:endParaRPr lang="en-US" sz="780" dirty="0"/>
          </a:p>
        </p:txBody>
      </p:sp>
      <p:sp>
        <p:nvSpPr>
          <p:cNvPr id="11" name="Shape 8"/>
          <p:cNvSpPr/>
          <p:nvPr/>
        </p:nvSpPr>
        <p:spPr>
          <a:xfrm>
            <a:off x="4416552" y="1536192"/>
            <a:ext cx="365760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0160">
            <a:solidFill>
              <a:srgbClr val="D7E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416552" y="1536192"/>
            <a:ext cx="45720" cy="2057400"/>
          </a:xfrm>
          <a:prstGeom prst="rect">
            <a:avLst/>
          </a:prstGeom>
          <a:solidFill>
            <a:srgbClr val="20C7C9"/>
          </a:solidFill>
          <a:ln w="12700">
            <a:solidFill>
              <a:srgbClr val="20C7C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44568" y="1645920"/>
            <a:ext cx="3401568" cy="1435608"/>
          </a:xfrm>
          <a:prstGeom prst="rect">
            <a:avLst/>
          </a:prstGeom>
          <a:solidFill>
            <a:srgbClr val="FCFDFE"/>
          </a:solidFill>
          <a:ln w="6350">
            <a:solidFill>
              <a:srgbClr val="E6ECF2"/>
            </a:solidFill>
            <a:prstDash val="solid"/>
          </a:ln>
        </p:spPr>
      </p:sp>
      <p:pic>
        <p:nvPicPr>
          <p:cNvPr id="14" name="Image 1" descr="D:\PICO\A44_CHIPATHON_2026_LAYOUT_REVIEW_STAGING_20260815_R1\layout\images\A44_SAR_ADC_CDAC_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700" y="1719072"/>
            <a:ext cx="1289304" cy="128930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581144" y="315468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528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CDAC east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6464808" y="3163824"/>
            <a:ext cx="1316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390 × 626 µm</a:t>
            </a:r>
            <a:endParaRPr lang="en-US" sz="780" dirty="0"/>
          </a:p>
        </p:txBody>
      </p:sp>
      <p:sp>
        <p:nvSpPr>
          <p:cNvPr id="17" name="Shape 13"/>
          <p:cNvSpPr/>
          <p:nvPr/>
        </p:nvSpPr>
        <p:spPr>
          <a:xfrm>
            <a:off x="8330184" y="1536192"/>
            <a:ext cx="365760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0160">
            <a:solidFill>
              <a:srgbClr val="D7E0E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330184" y="1536192"/>
            <a:ext cx="45720" cy="2057400"/>
          </a:xfrm>
          <a:prstGeom prst="rect">
            <a:avLst/>
          </a:prstGeom>
          <a:solidFill>
            <a:srgbClr val="20C7C9"/>
          </a:solidFill>
          <a:ln w="12700">
            <a:solidFill>
              <a:srgbClr val="20C7C9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458200" y="1645920"/>
            <a:ext cx="3401568" cy="1435608"/>
          </a:xfrm>
          <a:prstGeom prst="rect">
            <a:avLst/>
          </a:prstGeom>
          <a:solidFill>
            <a:srgbClr val="FCFDFE"/>
          </a:solidFill>
          <a:ln w="6350">
            <a:solidFill>
              <a:srgbClr val="E6ECF2"/>
            </a:solidFill>
            <a:prstDash val="solid"/>
          </a:ln>
        </p:spPr>
      </p:sp>
      <p:pic>
        <p:nvPicPr>
          <p:cNvPr id="20" name="Image 2" descr="D:\PICO\A44_CHIPATHON_2026_LAYOUT_REVIEW_STAGING_20260815_R1\layout\images\A44_SAR_ADC_CDAC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4332" y="1719072"/>
            <a:ext cx="1289304" cy="1289304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494776" y="315468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528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CDAC west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10378440" y="3163824"/>
            <a:ext cx="1316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390 × 626 µm</a:t>
            </a:r>
            <a:endParaRPr lang="en-US" sz="780" dirty="0"/>
          </a:p>
        </p:txBody>
      </p:sp>
      <p:sp>
        <p:nvSpPr>
          <p:cNvPr id="23" name="Shape 18"/>
          <p:cNvSpPr/>
          <p:nvPr/>
        </p:nvSpPr>
        <p:spPr>
          <a:xfrm>
            <a:off x="502920" y="3867912"/>
            <a:ext cx="365760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0160">
            <a:solidFill>
              <a:srgbClr val="D7E0EA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502920" y="3867912"/>
            <a:ext cx="45720" cy="20574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630936" y="3977640"/>
            <a:ext cx="3401568" cy="1435608"/>
          </a:xfrm>
          <a:prstGeom prst="rect">
            <a:avLst/>
          </a:prstGeom>
          <a:solidFill>
            <a:srgbClr val="FCFDFE"/>
          </a:solidFill>
          <a:ln w="6350">
            <a:solidFill>
              <a:srgbClr val="E6ECF2"/>
            </a:solidFill>
            <a:prstDash val="solid"/>
          </a:ln>
        </p:spPr>
      </p:sp>
      <p:pic>
        <p:nvPicPr>
          <p:cNvPr id="26" name="Image 3" descr="D:\PICO\A44_CHIPATHON_2026_LAYOUT_REVIEW_STAGING_20260815_R1\layout\images\A44_SAR_ADC_COMPARATO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7068" y="4050792"/>
            <a:ext cx="1289304" cy="1289304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667512" y="548640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528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Comparator</a:t>
            </a:r>
            <a:endParaRPr lang="en-US" sz="1050" dirty="0"/>
          </a:p>
        </p:txBody>
      </p:sp>
      <p:sp>
        <p:nvSpPr>
          <p:cNvPr id="28" name="Text 22"/>
          <p:cNvSpPr/>
          <p:nvPr/>
        </p:nvSpPr>
        <p:spPr>
          <a:xfrm>
            <a:off x="2551176" y="5495544"/>
            <a:ext cx="1316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168 × 100 µm</a:t>
            </a:r>
            <a:endParaRPr lang="en-US" sz="780" dirty="0"/>
          </a:p>
        </p:txBody>
      </p:sp>
      <p:sp>
        <p:nvSpPr>
          <p:cNvPr id="29" name="Shape 23"/>
          <p:cNvSpPr/>
          <p:nvPr/>
        </p:nvSpPr>
        <p:spPr>
          <a:xfrm>
            <a:off x="4416552" y="3867912"/>
            <a:ext cx="365760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0160">
            <a:solidFill>
              <a:srgbClr val="D7E0EA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4416552" y="3867912"/>
            <a:ext cx="45720" cy="20574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4544568" y="3977640"/>
            <a:ext cx="3401568" cy="1435608"/>
          </a:xfrm>
          <a:prstGeom prst="rect">
            <a:avLst/>
          </a:prstGeom>
          <a:solidFill>
            <a:srgbClr val="FCFDFE"/>
          </a:solidFill>
          <a:ln w="6350">
            <a:solidFill>
              <a:srgbClr val="E6ECF2"/>
            </a:solidFill>
            <a:prstDash val="solid"/>
          </a:ln>
        </p:spPr>
      </p:sp>
      <p:pic>
        <p:nvPicPr>
          <p:cNvPr id="32" name="Image 4" descr="D:\PICO\A44_CHIPATHON_2026_LAYOUT_REVIEW_STAGING_20260815_R1\layout\images\A44_SAR_ADC_SAR_LOGI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0700" y="4050792"/>
            <a:ext cx="1289304" cy="1289304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4581144" y="548640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528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SAR logic</a:t>
            </a:r>
            <a:endParaRPr lang="en-US" sz="1050" dirty="0"/>
          </a:p>
        </p:txBody>
      </p:sp>
      <p:sp>
        <p:nvSpPr>
          <p:cNvPr id="34" name="Text 27"/>
          <p:cNvSpPr/>
          <p:nvPr/>
        </p:nvSpPr>
        <p:spPr>
          <a:xfrm>
            <a:off x="6464808" y="5495544"/>
            <a:ext cx="1316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240 × 240 µm</a:t>
            </a:r>
            <a:endParaRPr lang="en-US" sz="780" dirty="0"/>
          </a:p>
        </p:txBody>
      </p:sp>
      <p:sp>
        <p:nvSpPr>
          <p:cNvPr id="35" name="Shape 28"/>
          <p:cNvSpPr/>
          <p:nvPr/>
        </p:nvSpPr>
        <p:spPr>
          <a:xfrm>
            <a:off x="8330184" y="3867912"/>
            <a:ext cx="365760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0160">
            <a:solidFill>
              <a:srgbClr val="D7E0EA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8330184" y="3867912"/>
            <a:ext cx="45720" cy="2057400"/>
          </a:xfrm>
          <a:prstGeom prst="rect">
            <a:avLst/>
          </a:prstGeom>
          <a:solidFill>
            <a:srgbClr val="1E9E70"/>
          </a:solidFill>
          <a:ln w="12700">
            <a:solidFill>
              <a:srgbClr val="1E9E70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8458200" y="3977640"/>
            <a:ext cx="3401568" cy="1435608"/>
          </a:xfrm>
          <a:prstGeom prst="rect">
            <a:avLst/>
          </a:prstGeom>
          <a:solidFill>
            <a:srgbClr val="FCFDFE"/>
          </a:solidFill>
          <a:ln w="6350">
            <a:solidFill>
              <a:srgbClr val="E6ECF2"/>
            </a:solidFill>
            <a:prstDash val="solid"/>
          </a:ln>
        </p:spPr>
      </p:sp>
      <p:pic>
        <p:nvPicPr>
          <p:cNvPr id="38" name="Image 5" descr="D:\PICO\A44_CHIPATHON_2026_LAYOUT_REVIEW_STAGING_20260815_R1\layout\images\A44_SAR_ADC_CLKS_BUFFE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14332" y="4050792"/>
            <a:ext cx="1289304" cy="1289304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8494776" y="548640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528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Clock buffer</a:t>
            </a:r>
            <a:endParaRPr lang="en-US" sz="1050" dirty="0"/>
          </a:p>
        </p:txBody>
      </p:sp>
      <p:sp>
        <p:nvSpPr>
          <p:cNvPr id="40" name="Text 32"/>
          <p:cNvSpPr/>
          <p:nvPr/>
        </p:nvSpPr>
        <p:spPr>
          <a:xfrm>
            <a:off x="10378440" y="5495544"/>
            <a:ext cx="1316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120 × 60 µm</a:t>
            </a:r>
            <a:endParaRPr lang="en-US" sz="7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80" kern="0" dirty="0">
                <a:solidFill>
                  <a:srgbClr val="2F6F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ANALOG ARRAY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630936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Differential CDAC pair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12064" y="1097280"/>
            <a:ext cx="10881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 and west arrays are published as independent GDS trees extracted from the current CORE hierarchy.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02920" y="1554480"/>
            <a:ext cx="557784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0160">
            <a:solidFill>
              <a:srgbClr val="D7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554480"/>
            <a:ext cx="45720" cy="4343400"/>
          </a:xfrm>
          <a:prstGeom prst="rect">
            <a:avLst/>
          </a:prstGeom>
          <a:solidFill>
            <a:srgbClr val="20C7C9"/>
          </a:solidFill>
          <a:ln w="12700">
            <a:solidFill>
              <a:srgbClr val="20C7C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0936" y="1664208"/>
            <a:ext cx="5321808" cy="3721608"/>
          </a:xfrm>
          <a:prstGeom prst="rect">
            <a:avLst/>
          </a:prstGeom>
          <a:solidFill>
            <a:srgbClr val="FCFDFE"/>
          </a:solidFill>
          <a:ln w="6350">
            <a:solidFill>
              <a:srgbClr val="E6ECF2"/>
            </a:solidFill>
            <a:prstDash val="solid"/>
          </a:ln>
        </p:spPr>
      </p:sp>
      <p:pic>
        <p:nvPicPr>
          <p:cNvPr id="8" name="Image 0" descr="D:\PICO\A44_CHIPATHON_2026_LAYOUT_REVIEW_STAGING_20260815_R1\layout\images\A44_SAR_ADC_CDAC_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4188" y="1737360"/>
            <a:ext cx="3575304" cy="357530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67512" y="5458968"/>
            <a:ext cx="30678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528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A44_SAR_ADC_CDAC_E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3626510" y="5468112"/>
            <a:ext cx="206563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top: A44_CDAC_UNIT_E_R7</a:t>
            </a:r>
            <a:endParaRPr lang="en-US" sz="780" dirty="0"/>
          </a:p>
        </p:txBody>
      </p:sp>
      <p:sp>
        <p:nvSpPr>
          <p:cNvPr id="11" name="Shape 8"/>
          <p:cNvSpPr/>
          <p:nvPr/>
        </p:nvSpPr>
        <p:spPr>
          <a:xfrm>
            <a:off x="6263640" y="1554480"/>
            <a:ext cx="5422392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0160">
            <a:solidFill>
              <a:srgbClr val="D7E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263640" y="1554480"/>
            <a:ext cx="45720" cy="4343400"/>
          </a:xfrm>
          <a:prstGeom prst="rect">
            <a:avLst/>
          </a:prstGeom>
          <a:solidFill>
            <a:srgbClr val="20C7C9"/>
          </a:solidFill>
          <a:ln w="12700">
            <a:solidFill>
              <a:srgbClr val="20C7C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91656" y="1664208"/>
            <a:ext cx="5166360" cy="3721608"/>
          </a:xfrm>
          <a:prstGeom prst="rect">
            <a:avLst/>
          </a:prstGeom>
          <a:solidFill>
            <a:srgbClr val="FCFDFE"/>
          </a:solidFill>
          <a:ln w="6350">
            <a:solidFill>
              <a:srgbClr val="E6ECF2"/>
            </a:solidFill>
            <a:prstDash val="solid"/>
          </a:ln>
        </p:spPr>
      </p:sp>
      <p:pic>
        <p:nvPicPr>
          <p:cNvPr id="14" name="Image 1" descr="D:\PICO\A44_CHIPATHON_2026_LAYOUT_REVIEW_STAGING_20260815_R1\layout\images\A44_SAR_ADC_CDAC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7184" y="1737360"/>
            <a:ext cx="3575304" cy="357530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428232" y="5458968"/>
            <a:ext cx="29823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528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A44_SAR_ADC_CDAC_W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9300180" y="5468112"/>
            <a:ext cx="200500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top: A44_CDAC_UNIT_W_R7</a:t>
            </a:r>
            <a:endParaRPr lang="en-US" sz="780" dirty="0"/>
          </a:p>
        </p:txBody>
      </p:sp>
      <p:sp>
        <p:nvSpPr>
          <p:cNvPr id="17" name="Text 13"/>
          <p:cNvSpPr/>
          <p:nvPr/>
        </p:nvSpPr>
        <p:spPr>
          <a:xfrm>
            <a:off x="640080" y="5989320"/>
            <a:ext cx="1920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F6FED"/>
                </a:solidFill>
              </a:rPr>
              <a:t>Shared integration interface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2514600" y="596188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VIN • CLKS • VTOP • DCTRL[7:1] • VREFP • VREFN • VDD • GND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80" kern="0" dirty="0">
                <a:solidFill>
                  <a:srgbClr val="2F6F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+ CONTROL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630936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Comparator, SAR logic, and clock buffer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12064" y="1097280"/>
            <a:ext cx="10881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GDS views retain the cell names used by the CORE hierarchy.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02920" y="1536192"/>
            <a:ext cx="3657600" cy="2176272"/>
          </a:xfrm>
          <a:prstGeom prst="roundRect">
            <a:avLst>
              <a:gd name="adj" fmla="val 3361"/>
            </a:avLst>
          </a:prstGeom>
          <a:solidFill>
            <a:srgbClr val="FFFFFF"/>
          </a:solidFill>
          <a:ln w="10160">
            <a:solidFill>
              <a:srgbClr val="D7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536192"/>
            <a:ext cx="45720" cy="217627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0936" y="1645920"/>
            <a:ext cx="3401568" cy="1554480"/>
          </a:xfrm>
          <a:prstGeom prst="rect">
            <a:avLst/>
          </a:prstGeom>
          <a:solidFill>
            <a:srgbClr val="FCFDFE"/>
          </a:solidFill>
          <a:ln w="6350">
            <a:solidFill>
              <a:srgbClr val="E6ECF2"/>
            </a:solidFill>
            <a:prstDash val="solid"/>
          </a:ln>
        </p:spPr>
      </p:sp>
      <p:pic>
        <p:nvPicPr>
          <p:cNvPr id="8" name="Image 0" descr="D:\PICO\A44_CHIPATHON_2026_LAYOUT_REVIEW_STAGING_20260815_R1\layout\images\A44_SAR_ADC_COMPARA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7632" y="1719072"/>
            <a:ext cx="1408176" cy="140817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67512" y="327355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528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Comparator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551176" y="3282696"/>
            <a:ext cx="1316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168 × 100 µm</a:t>
            </a:r>
            <a:endParaRPr lang="en-US" sz="780" dirty="0"/>
          </a:p>
        </p:txBody>
      </p:sp>
      <p:sp>
        <p:nvSpPr>
          <p:cNvPr id="11" name="Shape 8"/>
          <p:cNvSpPr/>
          <p:nvPr/>
        </p:nvSpPr>
        <p:spPr>
          <a:xfrm>
            <a:off x="4270248" y="1536192"/>
            <a:ext cx="3657600" cy="2176272"/>
          </a:xfrm>
          <a:prstGeom prst="roundRect">
            <a:avLst>
              <a:gd name="adj" fmla="val 3361"/>
            </a:avLst>
          </a:prstGeom>
          <a:solidFill>
            <a:srgbClr val="FFFFFF"/>
          </a:solidFill>
          <a:ln w="10160">
            <a:solidFill>
              <a:srgbClr val="D7E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270248" y="1536192"/>
            <a:ext cx="45720" cy="217627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398264" y="1645920"/>
            <a:ext cx="3401568" cy="1554480"/>
          </a:xfrm>
          <a:prstGeom prst="rect">
            <a:avLst/>
          </a:prstGeom>
          <a:solidFill>
            <a:srgbClr val="FCFDFE"/>
          </a:solidFill>
          <a:ln w="6350">
            <a:solidFill>
              <a:srgbClr val="E6ECF2"/>
            </a:solidFill>
            <a:prstDash val="solid"/>
          </a:ln>
        </p:spPr>
      </p:sp>
      <p:pic>
        <p:nvPicPr>
          <p:cNvPr id="14" name="Image 1" descr="D:\PICO\A44_CHIPATHON_2026_LAYOUT_REVIEW_STAGING_20260815_R1\layout\images\A44_SAR_ADC_SAR_LOGI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719072"/>
            <a:ext cx="1408176" cy="140817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434840" y="327355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528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SAR logic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6318504" y="3282696"/>
            <a:ext cx="1316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240 × 240 µm</a:t>
            </a:r>
            <a:endParaRPr lang="en-US" sz="780" dirty="0"/>
          </a:p>
        </p:txBody>
      </p:sp>
      <p:sp>
        <p:nvSpPr>
          <p:cNvPr id="17" name="Shape 13"/>
          <p:cNvSpPr/>
          <p:nvPr/>
        </p:nvSpPr>
        <p:spPr>
          <a:xfrm>
            <a:off x="8037576" y="1536192"/>
            <a:ext cx="3657600" cy="2176272"/>
          </a:xfrm>
          <a:prstGeom prst="roundRect">
            <a:avLst>
              <a:gd name="adj" fmla="val 3361"/>
            </a:avLst>
          </a:prstGeom>
          <a:solidFill>
            <a:srgbClr val="FFFFFF"/>
          </a:solidFill>
          <a:ln w="10160">
            <a:solidFill>
              <a:srgbClr val="D7E0E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037576" y="1536192"/>
            <a:ext cx="45720" cy="2176272"/>
          </a:xfrm>
          <a:prstGeom prst="rect">
            <a:avLst/>
          </a:prstGeom>
          <a:solidFill>
            <a:srgbClr val="1E9E70"/>
          </a:solidFill>
          <a:ln w="12700">
            <a:solidFill>
              <a:srgbClr val="1E9E70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165592" y="1645920"/>
            <a:ext cx="3401568" cy="1554480"/>
          </a:xfrm>
          <a:prstGeom prst="rect">
            <a:avLst/>
          </a:prstGeom>
          <a:solidFill>
            <a:srgbClr val="FCFDFE"/>
          </a:solidFill>
          <a:ln w="6350">
            <a:solidFill>
              <a:srgbClr val="E6ECF2"/>
            </a:solidFill>
            <a:prstDash val="solid"/>
          </a:ln>
        </p:spPr>
      </p:sp>
      <p:pic>
        <p:nvPicPr>
          <p:cNvPr id="20" name="Image 2" descr="D:\PICO\A44_CHIPATHON_2026_LAYOUT_REVIEW_STAGING_20260815_R1\layout\images\A44_SAR_ADC_CLKS_BUFF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2288" y="1719072"/>
            <a:ext cx="1408176" cy="1408176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202168" y="327355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528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Clock buffer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10085832" y="3282696"/>
            <a:ext cx="1316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120 × 60 µm</a:t>
            </a:r>
            <a:endParaRPr lang="en-US" sz="780" dirty="0"/>
          </a:p>
        </p:txBody>
      </p:sp>
      <p:sp>
        <p:nvSpPr>
          <p:cNvPr id="23" name="Shape 18"/>
          <p:cNvSpPr/>
          <p:nvPr/>
        </p:nvSpPr>
        <p:spPr>
          <a:xfrm>
            <a:off x="502920" y="3986784"/>
            <a:ext cx="3657600" cy="1645920"/>
          </a:xfrm>
          <a:prstGeom prst="roundRect">
            <a:avLst>
              <a:gd name="adj" fmla="val 4444"/>
            </a:avLst>
          </a:prstGeom>
          <a:solidFill>
            <a:srgbClr val="FFF2D7"/>
          </a:solidFill>
          <a:ln w="10160">
            <a:solidFill>
              <a:srgbClr val="FFF2D7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704088" y="42336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A66300"/>
                </a:solidFill>
              </a:rPr>
              <a:t>COMPARATOR</a:t>
            </a:r>
            <a:endParaRPr lang="en-US" sz="850" dirty="0"/>
          </a:p>
        </p:txBody>
      </p:sp>
      <p:sp>
        <p:nvSpPr>
          <p:cNvPr id="25" name="Text 20"/>
          <p:cNvSpPr/>
          <p:nvPr/>
        </p:nvSpPr>
        <p:spPr>
          <a:xfrm>
            <a:off x="704088" y="4645152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5283D"/>
                </a:solidFill>
              </a:rPr>
              <a:t>CLK, DCMPP, VINP, DCMPN, VINN, VDD, GND</a:t>
            </a:r>
            <a:endParaRPr lang="en-US" sz="1050" dirty="0"/>
          </a:p>
        </p:txBody>
      </p:sp>
      <p:sp>
        <p:nvSpPr>
          <p:cNvPr id="26" name="Shape 21"/>
          <p:cNvSpPr/>
          <p:nvPr/>
        </p:nvSpPr>
        <p:spPr>
          <a:xfrm>
            <a:off x="4270248" y="3986784"/>
            <a:ext cx="3657600" cy="1645920"/>
          </a:xfrm>
          <a:prstGeom prst="roundRect">
            <a:avLst>
              <a:gd name="adj" fmla="val 4444"/>
            </a:avLst>
          </a:prstGeom>
          <a:solidFill>
            <a:srgbClr val="EEE8FF"/>
          </a:solidFill>
          <a:ln w="10160">
            <a:solidFill>
              <a:srgbClr val="EEE8FF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471416" y="42336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842C2"/>
                </a:solidFill>
              </a:rPr>
              <a:t>SAR LOGIC</a:t>
            </a:r>
            <a:endParaRPr lang="en-US" sz="850" dirty="0"/>
          </a:p>
        </p:txBody>
      </p:sp>
      <p:sp>
        <p:nvSpPr>
          <p:cNvPr id="28" name="Text 23"/>
          <p:cNvSpPr/>
          <p:nvPr/>
        </p:nvSpPr>
        <p:spPr>
          <a:xfrm>
            <a:off x="4471416" y="4645152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5283D"/>
                </a:solidFill>
              </a:rPr>
              <a:t>CLKS, CMPCK, DCMP[N/P], DCTRL[N/P][7:1], DOUT[7:0], VDD, VSS</a:t>
            </a:r>
            <a:endParaRPr lang="en-US" sz="1050" dirty="0"/>
          </a:p>
        </p:txBody>
      </p:sp>
      <p:sp>
        <p:nvSpPr>
          <p:cNvPr id="29" name="Shape 24"/>
          <p:cNvSpPr/>
          <p:nvPr/>
        </p:nvSpPr>
        <p:spPr>
          <a:xfrm>
            <a:off x="8037576" y="3986784"/>
            <a:ext cx="3657600" cy="1645920"/>
          </a:xfrm>
          <a:prstGeom prst="roundRect">
            <a:avLst>
              <a:gd name="adj" fmla="val 4444"/>
            </a:avLst>
          </a:prstGeom>
          <a:solidFill>
            <a:srgbClr val="DDF6EB"/>
          </a:solidFill>
          <a:ln w="10160">
            <a:solidFill>
              <a:srgbClr val="DDF6EB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8238744" y="42336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167354"/>
                </a:solidFill>
              </a:rPr>
              <a:t>CLOCK BUFFER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8238744" y="4645152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5283D"/>
                </a:solidFill>
              </a:rPr>
              <a:t>PAD_CLK, CLKS_CORE, VDD, GND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80" kern="0" dirty="0">
                <a:solidFill>
                  <a:srgbClr val="2F6F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HANDOFF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630936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this publication establishes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12064" y="1097280"/>
            <a:ext cx="10881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focused CORE-layout submission, with explicit separation from full-die signoff.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02920" y="1536192"/>
            <a:ext cx="5440680" cy="4434840"/>
          </a:xfrm>
          <a:prstGeom prst="roundRect">
            <a:avLst>
              <a:gd name="adj" fmla="val 1649"/>
            </a:avLst>
          </a:prstGeom>
          <a:solidFill>
            <a:srgbClr val="FCFEFD"/>
          </a:solidFill>
          <a:ln w="10160">
            <a:solidFill>
              <a:srgbClr val="B9E6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847088"/>
            <a:ext cx="2011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E9E70"/>
                </a:solidFill>
              </a:rPr>
              <a:t>PUBLISHED NOW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" y="2267712"/>
            <a:ext cx="4773168" cy="30632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170434" indent="-170434">
              <a:buSzPct val="100000"/>
              <a:buChar char="•"/>
            </a:pPr>
            <a:r>
              <a:rPr lang="en-US" sz="1220" dirty="0">
                <a:solidFill>
                  <a:srgbClr val="1528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pre-fill CORE GDS at the configured repository path</a:t>
            </a:r>
            <a:endParaRPr lang="en-US" sz="1220" dirty="0"/>
          </a:p>
          <a:p>
            <a:pPr marL="170434" indent="-170434">
              <a:buSzPct val="100000"/>
              <a:buChar char="•"/>
            </a:pPr>
            <a:r>
              <a:rPr lang="en-US" sz="1220" dirty="0">
                <a:solidFill>
                  <a:srgbClr val="1528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Five direct component GDS files</a:t>
            </a:r>
            <a:endParaRPr lang="en-US" sz="1220" dirty="0"/>
          </a:p>
          <a:p>
            <a:pPr marL="170434" indent="-170434">
              <a:buSzPct val="100000"/>
              <a:buChar char="•"/>
            </a:pPr>
            <a:r>
              <a:rPr lang="en-US" sz="1220" dirty="0">
                <a:solidFill>
                  <a:srgbClr val="1528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and component LEF integration views</a:t>
            </a:r>
            <a:endParaRPr lang="en-US" sz="1220" dirty="0"/>
          </a:p>
          <a:p>
            <a:pPr marL="170434" indent="-170434">
              <a:buSzPct val="100000"/>
              <a:buChar char="•"/>
            </a:pPr>
            <a:r>
              <a:rPr lang="en-US" sz="1220" dirty="0">
                <a:solidFill>
                  <a:srgbClr val="1528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SAR logic DEF physical view</a:t>
            </a:r>
            <a:endParaRPr lang="en-US" sz="1220" dirty="0"/>
          </a:p>
          <a:p>
            <a:pPr marL="170434" indent="-170434">
              <a:buSzPct val="100000"/>
              <a:buChar char="•"/>
            </a:pPr>
            <a:r>
              <a:rPr lang="en-US" sz="1220" dirty="0">
                <a:solidFill>
                  <a:srgbClr val="1528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Exactly one full-layout image per GDS</a:t>
            </a:r>
            <a:endParaRPr lang="en-US" sz="1220" dirty="0"/>
          </a:p>
          <a:p>
            <a:pPr marL="170434" indent="-170434">
              <a:buSzPct val="100000"/>
              <a:buChar char="•"/>
            </a:pPr>
            <a:r>
              <a:rPr lang="en-US" sz="1220" dirty="0">
                <a:solidFill>
                  <a:srgbClr val="1528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Layout-review presentation</a:t>
            </a:r>
            <a:endParaRPr lang="en-US" sz="1220" dirty="0"/>
          </a:p>
        </p:txBody>
      </p:sp>
      <p:sp>
        <p:nvSpPr>
          <p:cNvPr id="8" name="Shape 6"/>
          <p:cNvSpPr/>
          <p:nvPr/>
        </p:nvSpPr>
        <p:spPr>
          <a:xfrm>
            <a:off x="6199632" y="1536192"/>
            <a:ext cx="5468112" cy="4434840"/>
          </a:xfrm>
          <a:prstGeom prst="roundRect">
            <a:avLst>
              <a:gd name="adj" fmla="val 1649"/>
            </a:avLst>
          </a:prstGeom>
          <a:solidFill>
            <a:srgbClr val="FFFCF7"/>
          </a:solidFill>
          <a:ln w="10160">
            <a:solidFill>
              <a:srgbClr val="F2D59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847088"/>
            <a:ext cx="2468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A66300"/>
                </a:solidFill>
              </a:rPr>
              <a:t>OPEN / OUT OF SCOPE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92240" y="2267712"/>
            <a:ext cx="4773168" cy="30632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170434" indent="-170434">
              <a:buSzPct val="100000"/>
              <a:buChar char="•"/>
            </a:pPr>
            <a:r>
              <a:rPr lang="en-US" sz="1220" dirty="0">
                <a:solidFill>
                  <a:srgbClr val="1528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Padframe, I/O pads, and primary/secondary ESD</a:t>
            </a:r>
            <a:endParaRPr lang="en-US" sz="1220" dirty="0"/>
          </a:p>
          <a:p>
            <a:pPr marL="170434" indent="-170434">
              <a:buSzPct val="100000"/>
              <a:buChar char="•"/>
            </a:pPr>
            <a:r>
              <a:rPr lang="en-US" sz="1220" dirty="0">
                <a:solidFill>
                  <a:srgbClr val="1528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Workshop full-die wrapper and Channel Partner package</a:t>
            </a:r>
            <a:endParaRPr lang="en-US" sz="1220" dirty="0"/>
          </a:p>
          <a:p>
            <a:pPr marL="170434" indent="-170434">
              <a:buSzPct val="100000"/>
              <a:buChar char="•"/>
            </a:pPr>
            <a:r>
              <a:rPr lang="en-US" sz="1220" dirty="0">
                <a:solidFill>
                  <a:srgbClr val="1528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Density/fill and antenna closure</a:t>
            </a:r>
            <a:endParaRPr lang="en-US" sz="1220" dirty="0"/>
          </a:p>
          <a:p>
            <a:pPr marL="170434" indent="-170434">
              <a:buSzPct val="100000"/>
              <a:buChar char="•"/>
            </a:pPr>
            <a:r>
              <a:rPr lang="en-US" sz="1220" dirty="0">
                <a:solidFill>
                  <a:srgbClr val="1528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Full-chip PDN, EM, and latch-up closure</a:t>
            </a:r>
            <a:endParaRPr lang="en-US" sz="1220" dirty="0"/>
          </a:p>
          <a:p>
            <a:pPr marL="170434" indent="-170434">
              <a:buSzPct val="100000"/>
              <a:buChar char="•"/>
            </a:pPr>
            <a:r>
              <a:rPr lang="en-US" sz="1220" dirty="0">
                <a:solidFill>
                  <a:srgbClr val="1528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full-chip DRC/LVS/PEX signoff</a:t>
            </a:r>
            <a:endParaRPr lang="en-US" sz="1220" dirty="0"/>
          </a:p>
          <a:p>
            <a:pPr marL="170434" indent="-170434">
              <a:buSzPct val="100000"/>
              <a:buChar char="•"/>
            </a:pPr>
            <a:r>
              <a:rPr lang="en-US" sz="1220" dirty="0">
                <a:solidFill>
                  <a:srgbClr val="1528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Tapeout readiness or foundry acceptance</a:t>
            </a:r>
            <a:endParaRPr lang="en-US" sz="1220" dirty="0"/>
          </a:p>
        </p:txBody>
      </p:sp>
      <p:sp>
        <p:nvSpPr>
          <p:cNvPr id="11" name="Shape 9"/>
          <p:cNvSpPr/>
          <p:nvPr/>
        </p:nvSpPr>
        <p:spPr>
          <a:xfrm>
            <a:off x="3364992" y="6126480"/>
            <a:ext cx="5440680" cy="329184"/>
          </a:xfrm>
          <a:prstGeom prst="roundRect">
            <a:avLst>
              <a:gd name="adj" fmla="val 22222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7872" y="6208776"/>
            <a:ext cx="5074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spc="50" kern="0" dirty="0">
                <a:solidFill>
                  <a:srgbClr val="FFFFFF"/>
                </a:solidFill>
              </a:rPr>
              <a:t>NEXT PUBLIC MILESTONE  •  TOP-LEVEL LAYOUT REVIEW  •  2026-08-21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1828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SSCS Chipathon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A44 SAR ADC Layout Review</dc:title>
  <dc:subject>A44 SAR ADC current CORE and component layout review</dc:subject>
  <dc:creator>Team A44 JST</dc:creator>
  <cp:lastModifiedBy>Team A44 JST</cp:lastModifiedBy>
  <cp:revision>1</cp:revision>
  <dcterms:created xsi:type="dcterms:W3CDTF">2026-08-15T05:24:09Z</dcterms:created>
  <dcterms:modified xsi:type="dcterms:W3CDTF">2026-08-15T05:24:09Z</dcterms:modified>
</cp:coreProperties>
</file>